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57069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115424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33421514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08265951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7785418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0769398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609870-1EF6-207E-7754-02C671DE68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657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9070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75426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12271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50131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522940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93595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27695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08693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84327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84298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7095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681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5782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4517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0628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9841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02384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BF3D81-FCD9-3451-1B0F-90C8EDC83B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9995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2654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16006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76481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50905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558019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47939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9715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983662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90814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56229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7833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134635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08671771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99522389" name="Shape 1061"/>
          <p:cNvSpPr>
            <a:spLocks noChangeArrowheads="1" noGrp="1"/>
          </p:cNvSpPr>
          <p:nvPr userDrawn="1"/>
        </p:nvSpPr>
        <p:spPr bwMode="auto">
          <a:xfrm>
            <a:off x="6567031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15553424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57739786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13594752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6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94413097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63643882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72535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  <p:sp>
        <p:nvSpPr>
          <p:cNvPr id="2029324649" name="Title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6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06643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7264297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7389378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68436601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21697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516176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2072797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22157748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166831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399309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138061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8125781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3754133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0217207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65254029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500714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50442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0520744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0568426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7601574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46403882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2109731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82508603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04154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11088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12769195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68590050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981547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35318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59916870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016730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007238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76889350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367113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61974348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66374991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86978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299954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49723345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65491081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95524992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575411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437192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3456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5561055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954250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0587192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98995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07560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6100114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8936250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48783860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20978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592127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64915143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637874824" name="Shape 1061"/>
          <p:cNvSpPr>
            <a:spLocks noChangeArrowheads="1" noGrp="1"/>
          </p:cNvSpPr>
          <p:nvPr userDrawn="1"/>
        </p:nvSpPr>
        <p:spPr bwMode="auto">
          <a:xfrm>
            <a:off x="1637457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84951322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0494930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8969035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4709021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8957387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lvl1pPr algn="r" defTabSz="914400" rtl="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0635769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Анонимный кроссплатформенный видеохостинг с функцией автоматического перевода</a:t>
            </a:r>
            <a:endParaRPr sz="2800">
              <a:solidFill>
                <a:schemeClr val="tx1"/>
              </a:solidFill>
              <a:latin typeface="Comic Sans MS"/>
              <a:cs typeface="Comic Sans MS"/>
            </a:endParaRPr>
          </a:p>
        </p:txBody>
      </p:sp>
      <p:sp>
        <p:nvSpPr>
          <p:cNvPr id="349152680" name="Content Placeholder 2"/>
          <p:cNvSpPr>
            <a:spLocks noGrp="1"/>
          </p:cNvSpPr>
          <p:nvPr>
            <p:ph idx="1"/>
          </p:nvPr>
        </p:nvSpPr>
        <p:spPr bwMode="auto">
          <a:xfrm>
            <a:off x="2090218" y="3307156"/>
            <a:ext cx="10972800" cy="4525962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en-US" sz="2600" b="0" i="0" u="none" strike="noStrike" cap="none" spc="0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Студент: </a:t>
            </a:r>
            <a:r>
              <a:rPr lang="en-US" sz="2600" b="0" i="0" u="none" strike="noStrike" cap="none" spc="0">
                <a:solidFill>
                  <a:srgbClr val="FF0000"/>
                </a:solidFill>
                <a:latin typeface="Comic Sans MS"/>
                <a:ea typeface="Comic Sans MS"/>
                <a:cs typeface="Comic Sans MS"/>
              </a:rPr>
              <a:t>Селиванов Матвей Сергеевич</a:t>
            </a:r>
            <a:endParaRPr sz="2600" b="0" i="0" u="none" strike="noStrike" cap="none" spc="0">
              <a:solidFill>
                <a:srgbClr val="FF0000"/>
              </a:solidFill>
              <a:latin typeface="Comic Sans MS"/>
              <a:cs typeface="Comic Sans MS"/>
            </a:endParaRPr>
          </a:p>
          <a:p>
            <a:pPr marL="0" indent="0">
              <a:buFont typeface="Arial"/>
              <a:buNone/>
              <a:defRPr/>
            </a:pPr>
            <a:r>
              <a:rPr lang="en-US" sz="2600" b="0" i="0" u="none" strike="noStrike" cap="none" spc="0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Группа: 9/3-РПО-23/1</a:t>
            </a:r>
            <a:endParaRPr sz="2600" b="0" i="0" u="none" strike="noStrike" cap="none" spc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0" indent="0">
              <a:buFont typeface="Arial"/>
              <a:buNone/>
              <a:defRPr/>
            </a:pPr>
            <a:r>
              <a:rPr lang="en-US" sz="2600" b="0" i="0" u="none" strike="noStrike" cap="none" spc="0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Руководитель: </a:t>
            </a:r>
            <a:r>
              <a:rPr lang="en-US" sz="2600" b="0" i="0" u="none" strike="noStrike" cap="none" spc="0">
                <a:solidFill>
                  <a:srgbClr val="FF0000"/>
                </a:solidFill>
                <a:latin typeface="Comic Sans MS"/>
                <a:ea typeface="Comic Sans MS"/>
                <a:cs typeface="Comic Sans MS"/>
              </a:rPr>
              <a:t>Рослова Оксана Александровна</a:t>
            </a:r>
            <a:endParaRPr sz="2600" b="0" i="0" u="none" strike="noStrike" cap="none" spc="0">
              <a:solidFill>
                <a:srgbClr val="FF0000"/>
              </a:solidFill>
              <a:latin typeface="Comic Sans MS"/>
              <a:cs typeface="Comic Sans MS"/>
            </a:endParaRPr>
          </a:p>
          <a:p>
            <a:pPr marL="0" indent="0">
              <a:buFont typeface="Arial"/>
              <a:buNone/>
              <a:defRPr/>
            </a:pPr>
            <a:r>
              <a:rPr lang="en-US" sz="2600" b="0" i="0" u="none" strike="noStrike" cap="none" spc="0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Дисциплина: Учебная практика (ПМ.02)</a:t>
            </a:r>
            <a:endParaRPr sz="2600">
              <a:solidFill>
                <a:schemeClr val="tx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1993883" name="Text 1"/>
          <p:cNvSpPr/>
          <p:nvPr/>
        </p:nvSpPr>
        <p:spPr bwMode="auto">
          <a:xfrm>
            <a:off x="6051664" y="428516"/>
            <a:ext cx="5985163" cy="5818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2200" b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Актуальность и проблема</a:t>
            </a:r>
            <a:endParaRPr sz="2200">
              <a:latin typeface="Comic Sans MS"/>
              <a:cs typeface="Comic Sans MS"/>
            </a:endParaRPr>
          </a:p>
        </p:txBody>
      </p:sp>
      <p:sp>
        <p:nvSpPr>
          <p:cNvPr id="1841562368" name="Text 2"/>
          <p:cNvSpPr/>
          <p:nvPr/>
        </p:nvSpPr>
        <p:spPr bwMode="auto">
          <a:xfrm>
            <a:off x="6051664" y="1358019"/>
            <a:ext cx="5818909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0836" indent="-250836">
              <a:buFont typeface="Wingdings"/>
              <a:buChar char="Ø"/>
              <a:defRPr/>
            </a:pPr>
            <a:r>
              <a:rPr lang="en-US" sz="15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Существующие видеоплатформы (YouTube, Rutube, VK Video) собирают персональные данные, показывают рекламу, могут быть заблокированы.</a:t>
            </a:r>
            <a:endParaRPr sz="15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283879" indent="-283879">
              <a:buFont typeface="Wingdings"/>
              <a:buChar char="Ø"/>
              <a:defRPr/>
            </a:pPr>
            <a:endParaRPr sz="15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250836" indent="-250836">
              <a:buFont typeface="Wingdings"/>
              <a:buChar char="Ø"/>
              <a:defRPr/>
            </a:pPr>
            <a:r>
              <a:rPr lang="en-US" sz="15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Облачные диски (Google Drive, Яндекс.Диск) неудобны для онлайн-просмотра: требуется скачивание файла полностью.</a:t>
            </a:r>
            <a:endParaRPr sz="15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283879" indent="-283879">
              <a:buFont typeface="Wingdings"/>
              <a:buChar char="Ø"/>
              <a:defRPr/>
            </a:pPr>
            <a:endParaRPr sz="15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250836" indent="-250836" algn="l">
              <a:lnSpc>
                <a:spcPts val="2000"/>
              </a:lnSpc>
              <a:buFont typeface="Wingdings"/>
              <a:buChar char="Ø"/>
              <a:defRPr/>
            </a:pPr>
            <a:r>
              <a:rPr lang="en-US" sz="15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Нет безопасной, анонимной и кроссплатформенной среды для учебного видеообмена.</a:t>
            </a:r>
            <a:endParaRPr sz="1500">
              <a:latin typeface="Comic Sans MS"/>
              <a:cs typeface="Comic Sans MS"/>
            </a:endParaRPr>
          </a:p>
        </p:txBody>
      </p:sp>
      <p:pic>
        <p:nvPicPr>
          <p:cNvPr id="50943842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29528" y="1358019"/>
            <a:ext cx="5651014" cy="2856556"/>
          </a:xfrm>
          <a:prstGeom prst="rect">
            <a:avLst/>
          </a:prstGeom>
        </p:spPr>
      </p:pic>
      <p:sp>
        <p:nvSpPr>
          <p:cNvPr id="1249647380" name=""/>
          <p:cNvSpPr txBox="1"/>
          <p:nvPr/>
        </p:nvSpPr>
        <p:spPr bwMode="auto">
          <a:xfrm rot="0" flipH="0" flipV="0">
            <a:off x="1691866" y="4804221"/>
            <a:ext cx="168932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>
                <a:latin typeface="Comic Sans MS"/>
                <a:ea typeface="Comic Sans MS"/>
                <a:cs typeface="Comic Sans MS"/>
              </a:rPr>
              <a:t>Актуальность:</a:t>
            </a:r>
            <a:endParaRPr>
              <a:latin typeface="Comic Sans MS"/>
              <a:cs typeface="Comic Sans MS"/>
            </a:endParaRPr>
          </a:p>
        </p:txBody>
      </p:sp>
      <p:sp>
        <p:nvSpPr>
          <p:cNvPr id="1344717111" name=""/>
          <p:cNvSpPr txBox="1"/>
          <p:nvPr/>
        </p:nvSpPr>
        <p:spPr bwMode="auto">
          <a:xfrm rot="0" flipH="0" flipV="0">
            <a:off x="3451215" y="4907958"/>
            <a:ext cx="5593390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 algn="l">
              <a:buFont typeface="Wingdings"/>
              <a:buChar char="Ø"/>
              <a:defRPr/>
            </a:pPr>
            <a:r>
              <a:rPr>
                <a:latin typeface="Comic Sans MS"/>
                <a:ea typeface="Comic Sans MS"/>
                <a:cs typeface="Comic Sans MS"/>
              </a:rPr>
              <a:t>Создание приватного видеохостинга без слежки, с открытым кодом и возможностью донатов – востребованная задача в учебных заведениях и небольших сообществах.</a:t>
            </a:r>
            <a:endParaRPr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80513" name="Text 0"/>
          <p:cNvSpPr/>
          <p:nvPr/>
        </p:nvSpPr>
        <p:spPr bwMode="auto">
          <a:xfrm>
            <a:off x="2310937" y="1082733"/>
            <a:ext cx="7647708" cy="5818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2200" b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Цель и задачи практики</a:t>
            </a:r>
            <a:endParaRPr sz="2200">
              <a:latin typeface="Comic Sans MS"/>
              <a:cs typeface="Comic Sans MS"/>
            </a:endParaRPr>
          </a:p>
        </p:txBody>
      </p:sp>
      <p:sp>
        <p:nvSpPr>
          <p:cNvPr id="1336256346" name="Text 1"/>
          <p:cNvSpPr/>
          <p:nvPr/>
        </p:nvSpPr>
        <p:spPr bwMode="auto">
          <a:xfrm>
            <a:off x="2310937" y="2078182"/>
            <a:ext cx="748145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0836" indent="-250836" algn="l">
              <a:lnSpc>
                <a:spcPts val="2000"/>
              </a:lnSpc>
              <a:buFont typeface="Wingdings"/>
              <a:buChar char="Ø"/>
              <a:defRPr/>
            </a:pPr>
            <a:r>
              <a:rPr lang="en-US" sz="150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Цель: разработать кроссплатформенный видеохостинг с анонимной авторизацией, потоковым видео, комментариями, лайками, плейлистами, модерацией и уведомлениями. </a:t>
            </a:r>
            <a:endParaRPr sz="150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250836" indent="-250836" algn="l">
              <a:lnSpc>
                <a:spcPts val="1999"/>
              </a:lnSpc>
              <a:buFont typeface="Wingdings"/>
              <a:buChar char="Ø"/>
              <a:defRPr/>
            </a:pPr>
            <a:r>
              <a:rPr lang="en-US" sz="150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Задачи (основные этапы): провести предпроектный анализ и сформулировать требования, спроектировать архитектуру и базу данных, реализовать серверную часть (ASP.NET Core, PostgreSQL, HLS), разработать клиентское приложение (Avalonia UI), протестировать и отладить модули, оформить документацию и портфолио.</a:t>
            </a:r>
            <a:endParaRPr sz="1500">
              <a:latin typeface="Comic Sans MS"/>
              <a:cs typeface="Comic Sans MS"/>
            </a:endParaRPr>
          </a:p>
        </p:txBody>
      </p:sp>
      <p:pic>
        <p:nvPicPr>
          <p:cNvPr id="112892221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560459" y="4356979"/>
            <a:ext cx="3200549" cy="24988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3935001" name="Text 1"/>
          <p:cNvSpPr/>
          <p:nvPr/>
        </p:nvSpPr>
        <p:spPr bwMode="auto">
          <a:xfrm>
            <a:off x="2492923" y="931841"/>
            <a:ext cx="5985163" cy="5818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Анализ аналогов</a:t>
            </a:r>
            <a:endParaRPr sz="2200">
              <a:latin typeface="Comic Sans MS"/>
              <a:cs typeface="Comic Sans MS"/>
            </a:endParaRPr>
          </a:p>
        </p:txBody>
      </p:sp>
      <p:pic>
        <p:nvPicPr>
          <p:cNvPr id="204169667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63069" y="2041011"/>
            <a:ext cx="4765809" cy="3562074"/>
          </a:xfrm>
          <a:prstGeom prst="rect">
            <a:avLst/>
          </a:prstGeom>
        </p:spPr>
      </p:pic>
      <p:pic>
        <p:nvPicPr>
          <p:cNvPr id="88840179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470767" y="2078181"/>
            <a:ext cx="6014637" cy="34877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4037009" name="Text 0"/>
          <p:cNvSpPr/>
          <p:nvPr/>
        </p:nvSpPr>
        <p:spPr bwMode="auto">
          <a:xfrm>
            <a:off x="1179632" y="386232"/>
            <a:ext cx="10141526" cy="5818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Архитектура системы</a:t>
            </a:r>
            <a:endParaRPr sz="2200">
              <a:latin typeface="Comic Sans MS"/>
              <a:cs typeface="Comic Sans MS"/>
            </a:endParaRPr>
          </a:p>
        </p:txBody>
      </p:sp>
      <p:sp>
        <p:nvSpPr>
          <p:cNvPr id="958761433" name="Text 1"/>
          <p:cNvSpPr/>
          <p:nvPr/>
        </p:nvSpPr>
        <p:spPr bwMode="auto">
          <a:xfrm>
            <a:off x="1050342" y="4814454"/>
            <a:ext cx="9975273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000"/>
              </a:lnSpc>
              <a:buNone/>
              <a:defRPr/>
            </a:pPr>
            <a:r>
              <a:rPr lang="ru-RU" sz="160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О</a:t>
            </a:r>
            <a:r>
              <a:rPr lang="en-US" sz="160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писание: клиент: Avalonia UI, MVVM, интеграция с MPV; сервер: ASP.NET Core, EF Core, JWT; база данных: PostgreSQL; взаимодействие: REST API, HLS-поток (m3u8); модули: видео, комментарии, лайки, плейлисты, модерация, уведомления, донаты, статистика. Система также включает интеграцию с внешними сервисами для расширения функциональности и улучшения пользовательского опыта.</a:t>
            </a:r>
            <a:endParaRPr sz="1600">
              <a:latin typeface="Comic Sans MS"/>
              <a:cs typeface="Comic Sans MS"/>
            </a:endParaRPr>
          </a:p>
        </p:txBody>
      </p:sp>
      <p:pic>
        <p:nvPicPr>
          <p:cNvPr id="13291755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451372" y="1109347"/>
            <a:ext cx="9173212" cy="30960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816316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612227" y="0"/>
            <a:ext cx="6579772" cy="3682477"/>
          </a:xfrm>
          <a:prstGeom prst="rect">
            <a:avLst/>
          </a:prstGeom>
        </p:spPr>
      </p:pic>
      <p:pic>
        <p:nvPicPr>
          <p:cNvPr id="52071352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376113" y="3867739"/>
            <a:ext cx="5265721" cy="2961968"/>
          </a:xfrm>
          <a:prstGeom prst="rect">
            <a:avLst/>
          </a:prstGeom>
        </p:spPr>
      </p:pic>
      <p:pic>
        <p:nvPicPr>
          <p:cNvPr id="1591342726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564666" y="216905"/>
            <a:ext cx="4460840" cy="60186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699545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66487" y="433811"/>
            <a:ext cx="5247263" cy="5141613"/>
          </a:xfrm>
          <a:prstGeom prst="rect">
            <a:avLst/>
          </a:prstGeom>
        </p:spPr>
      </p:pic>
      <p:pic>
        <p:nvPicPr>
          <p:cNvPr id="1823621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742962" y="707301"/>
            <a:ext cx="4414064" cy="49435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9607837" name="Text 0"/>
          <p:cNvSpPr/>
          <p:nvPr/>
        </p:nvSpPr>
        <p:spPr bwMode="auto">
          <a:xfrm>
            <a:off x="315884" y="209896"/>
            <a:ext cx="11720944" cy="5818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Тестирование и отладка</a:t>
            </a:r>
            <a:endParaRPr sz="2200">
              <a:latin typeface="Comic Sans MS"/>
              <a:cs typeface="Comic Sans MS"/>
            </a:endParaRPr>
          </a:p>
        </p:txBody>
      </p:sp>
      <p:sp>
        <p:nvSpPr>
          <p:cNvPr id="1867635163" name=""/>
          <p:cNvSpPr txBox="1"/>
          <p:nvPr/>
        </p:nvSpPr>
        <p:spPr bwMode="auto">
          <a:xfrm rot="0" flipH="0" flipV="0">
            <a:off x="1726782" y="1017957"/>
            <a:ext cx="8437458" cy="5029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 algn="l">
              <a:buFont typeface="Wingdings"/>
              <a:buChar char="Ø"/>
              <a:defRPr/>
            </a:pPr>
            <a:r>
              <a:rPr>
                <a:latin typeface="Comic Sans MS"/>
                <a:ea typeface="Comic Sans MS"/>
                <a:cs typeface="Comic Sans MS"/>
              </a:rPr>
              <a:t>Виды тестирования:</a:t>
            </a:r>
            <a:endParaRPr>
              <a:latin typeface="Comic Sans MS"/>
              <a:cs typeface="Comic Sans MS"/>
            </a:endParaRPr>
          </a:p>
          <a:p>
            <a:pPr lvl="1" algn="l">
              <a:defRPr/>
            </a:pPr>
            <a:r>
              <a:rPr>
                <a:latin typeface="Comic Sans MS"/>
                <a:ea typeface="Comic Sans MS"/>
                <a:cs typeface="Comic Sans MS"/>
              </a:rPr>
              <a:t>Модульное (xUnit) – сервисы и контроллеры.</a:t>
            </a:r>
            <a:endParaRPr>
              <a:latin typeface="Comic Sans MS"/>
              <a:ea typeface="Comic Sans MS"/>
              <a:cs typeface="Comic Sans MS"/>
            </a:endParaRPr>
          </a:p>
          <a:p>
            <a:pPr lvl="1" algn="l">
              <a:defRPr/>
            </a:pPr>
            <a:endParaRPr>
              <a:latin typeface="Comic Sans MS"/>
              <a:cs typeface="Comic Sans MS"/>
            </a:endParaRPr>
          </a:p>
          <a:p>
            <a:pPr algn="l">
              <a:defRPr/>
            </a:pPr>
            <a:r>
              <a:rPr lang="ru-RU">
                <a:latin typeface="Comic Sans MS"/>
                <a:ea typeface="Comic Sans MS"/>
                <a:cs typeface="Comic Sans MS"/>
              </a:rPr>
              <a:t>       </a:t>
            </a:r>
            <a:r>
              <a:rPr>
                <a:latin typeface="Comic Sans MS"/>
                <a:ea typeface="Comic Sans MS"/>
                <a:cs typeface="Comic Sans MS"/>
              </a:rPr>
              <a:t>Интеграционное (API + БД + клиент).</a:t>
            </a:r>
            <a:endParaRPr>
              <a:latin typeface="Comic Sans MS"/>
              <a:cs typeface="Comic Sans MS"/>
            </a:endParaRPr>
          </a:p>
          <a:p>
            <a:pPr marL="283879" indent="-283879" algn="l">
              <a:buFont typeface="Wingdings"/>
              <a:buChar char="Ø"/>
              <a:defRPr/>
            </a:pPr>
            <a:endParaRPr>
              <a:latin typeface="Comic Sans MS"/>
              <a:cs typeface="Comic Sans MS"/>
            </a:endParaRPr>
          </a:p>
          <a:p>
            <a:pPr marL="283879" indent="-283879" algn="l">
              <a:buFont typeface="Wingdings"/>
              <a:buChar char="Ø"/>
              <a:defRPr/>
            </a:pPr>
            <a:endParaRPr>
              <a:latin typeface="Comic Sans MS"/>
              <a:cs typeface="Comic Sans MS"/>
            </a:endParaRPr>
          </a:p>
          <a:p>
            <a:pPr marL="283879" indent="-283879" algn="l">
              <a:buFont typeface="Wingdings"/>
              <a:buChar char="Ø"/>
              <a:defRPr/>
            </a:pPr>
            <a:r>
              <a:rPr>
                <a:latin typeface="Comic Sans MS"/>
                <a:ea typeface="Comic Sans MS"/>
                <a:cs typeface="Comic Sans MS"/>
              </a:rPr>
              <a:t>Ручное тестирование сценариев (15 тест-кейсов).</a:t>
            </a:r>
            <a:endParaRPr>
              <a:latin typeface="Comic Sans MS"/>
              <a:cs typeface="Comic Sans MS"/>
            </a:endParaRPr>
          </a:p>
          <a:p>
            <a:pPr marL="283879" indent="-283879" algn="l">
              <a:buFont typeface="Wingdings"/>
              <a:buChar char="Ø"/>
              <a:defRPr/>
            </a:pPr>
            <a:endParaRPr>
              <a:latin typeface="Comic Sans MS"/>
              <a:cs typeface="Comic Sans MS"/>
            </a:endParaRPr>
          </a:p>
          <a:p>
            <a:pPr marL="283879" indent="-283879" algn="l">
              <a:buAutoNum type="arabicPeriod"/>
              <a:defRPr/>
            </a:pPr>
            <a:r>
              <a:rPr>
                <a:latin typeface="Comic Sans MS"/>
                <a:ea typeface="Comic Sans MS"/>
                <a:cs typeface="Comic Sans MS"/>
              </a:rPr>
              <a:t>Основные исправленные ошибки (из changelog):</a:t>
            </a:r>
            <a:endParaRPr>
              <a:latin typeface="Comic Sans MS"/>
              <a:cs typeface="Comic Sans MS"/>
            </a:endParaRPr>
          </a:p>
          <a:p>
            <a:pPr marL="283879" indent="-283879" algn="l">
              <a:buFont typeface="Wingdings"/>
              <a:buAutoNum type="arabicPeriod"/>
              <a:defRPr/>
            </a:pPr>
            <a:endParaRPr>
              <a:latin typeface="Comic Sans MS"/>
              <a:cs typeface="Comic Sans MS"/>
            </a:endParaRPr>
          </a:p>
          <a:p>
            <a:pPr marL="283879" indent="-283879" algn="l">
              <a:buAutoNum type="arabicPeriod"/>
              <a:defRPr/>
            </a:pPr>
            <a:r>
              <a:rPr>
                <a:latin typeface="Comic Sans MS"/>
                <a:ea typeface="Comic Sans MS"/>
                <a:cs typeface="Comic Sans MS"/>
              </a:rPr>
              <a:t>Двойной счёт просмотров при открытии видео через MPV – исправлен созданием отдельного endpoint /view.</a:t>
            </a:r>
            <a:endParaRPr>
              <a:latin typeface="Comic Sans MS"/>
              <a:cs typeface="Comic Sans MS"/>
            </a:endParaRPr>
          </a:p>
          <a:p>
            <a:pPr marL="283879" indent="-283879" algn="l">
              <a:buFont typeface="Wingdings"/>
              <a:buAutoNum type="arabicPeriod"/>
              <a:defRPr/>
            </a:pPr>
            <a:endParaRPr>
              <a:latin typeface="Comic Sans MS"/>
              <a:cs typeface="Comic Sans MS"/>
            </a:endParaRPr>
          </a:p>
          <a:p>
            <a:pPr marL="283879" indent="-283879" algn="l">
              <a:buAutoNum type="arabicPeriod"/>
              <a:defRPr/>
            </a:pPr>
            <a:r>
              <a:rPr>
                <a:latin typeface="Comic Sans MS"/>
                <a:ea typeface="Comic Sans MS"/>
                <a:cs typeface="Comic Sans MS"/>
              </a:rPr>
              <a:t>Ошибка EF Core при обновлении просмотров – добавлен try-catch.</a:t>
            </a:r>
            <a:endParaRPr>
              <a:latin typeface="Comic Sans MS"/>
              <a:cs typeface="Comic Sans MS"/>
            </a:endParaRPr>
          </a:p>
          <a:p>
            <a:pPr marL="283879" indent="-283879" algn="l">
              <a:buFont typeface="Wingdings"/>
              <a:buAutoNum type="arabicPeriod"/>
              <a:defRPr/>
            </a:pPr>
            <a:endParaRPr>
              <a:latin typeface="Comic Sans MS"/>
              <a:cs typeface="Comic Sans MS"/>
            </a:endParaRPr>
          </a:p>
          <a:p>
            <a:pPr marL="283879" indent="-283879" algn="l">
              <a:buAutoNum type="arabicPeriod"/>
              <a:defRPr/>
            </a:pPr>
            <a:r>
              <a:rPr>
                <a:latin typeface="Comic Sans MS"/>
                <a:ea typeface="Comic Sans MS"/>
                <a:cs typeface="Comic Sans MS"/>
              </a:rPr>
              <a:t>Лишнее обновление списка после закрытия MPV – флаг _videoDeleted.</a:t>
            </a:r>
            <a:endParaRPr>
              <a:latin typeface="Comic Sans MS"/>
              <a:cs typeface="Comic Sans MS"/>
            </a:endParaRPr>
          </a:p>
          <a:p>
            <a:pPr marL="283879" indent="-283879" algn="l">
              <a:buAutoNum type="arabicPeriod"/>
              <a:defRPr/>
            </a:pPr>
            <a:endParaRPr>
              <a:latin typeface="Comic Sans MS"/>
              <a:cs typeface="Comic Sans MS"/>
            </a:endParaRPr>
          </a:p>
          <a:p>
            <a:pPr marL="283879" indent="-283879" algn="l">
              <a:buAutoNum type="arabicPeriod"/>
              <a:defRPr/>
            </a:pPr>
            <a:r>
              <a:rPr>
                <a:latin typeface="Comic Sans MS"/>
                <a:ea typeface="Comic Sans MS"/>
                <a:cs typeface="Comic Sans MS"/>
              </a:rPr>
              <a:t>Повторное открытие MPV – проверка IsMpvRunning.</a:t>
            </a:r>
            <a:endParaRPr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9598132" name="Text 1"/>
          <p:cNvSpPr/>
          <p:nvPr/>
        </p:nvSpPr>
        <p:spPr bwMode="auto">
          <a:xfrm>
            <a:off x="5636028" y="271693"/>
            <a:ext cx="5985163" cy="9809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Результаты практики (сформированные компетенции)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745912210" name="Text 3"/>
          <p:cNvSpPr/>
          <p:nvPr/>
        </p:nvSpPr>
        <p:spPr bwMode="auto">
          <a:xfrm flipH="0" flipV="0">
            <a:off x="5594961" y="5268499"/>
            <a:ext cx="6067297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000"/>
              </a:lnSpc>
              <a:buNone/>
              <a:defRPr/>
            </a:pPr>
            <a:r>
              <a:rPr lang="en-US"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Освоенные технологии: </a:t>
            </a:r>
            <a:r>
              <a:rPr lang="en-US" sz="1800">
                <a:solidFill>
                  <a:srgbClr val="FF0000"/>
                </a:solidFill>
                <a:latin typeface="Comic Sans MS"/>
                <a:ea typeface="Comic Sans MS"/>
                <a:cs typeface="Comic Sans MS"/>
              </a:rPr>
              <a:t>C#, .NET, Avalonia, ASP.NET Core, PostgreSQL, EF Core, HLS, MPV, Git, PlantUML, DrawDB, Figma.</a:t>
            </a:r>
            <a:endParaRPr sz="1800">
              <a:solidFill>
                <a:srgbClr val="FF0000"/>
              </a:solidFill>
              <a:latin typeface="Comic Sans MS"/>
              <a:cs typeface="Comic Sans MS"/>
            </a:endParaRPr>
          </a:p>
        </p:txBody>
      </p:sp>
      <p:sp>
        <p:nvSpPr>
          <p:cNvPr id="89512768" name=""/>
          <p:cNvSpPr txBox="1"/>
          <p:nvPr/>
        </p:nvSpPr>
        <p:spPr bwMode="auto">
          <a:xfrm rot="0" flipH="0" flipV="0">
            <a:off x="5253861" y="1197697"/>
            <a:ext cx="6660948" cy="39322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 algn="l">
              <a:buFont typeface="Arial"/>
              <a:buChar char="•"/>
              <a:defRPr/>
            </a:pPr>
            <a:r>
              <a:rPr>
                <a:latin typeface="Comic Sans MS"/>
                <a:ea typeface="Comic Sans MS"/>
                <a:cs typeface="Comic Sans MS"/>
              </a:rPr>
              <a:t>ПК 2.1 – 2.5:</a:t>
            </a:r>
            <a:endParaRPr>
              <a:latin typeface="Comic Sans MS"/>
              <a:cs typeface="Comic Sans MS"/>
            </a:endParaRPr>
          </a:p>
          <a:p>
            <a:pPr marL="283879" indent="-283879" algn="l">
              <a:buFont typeface="Arial"/>
              <a:buChar char="•"/>
              <a:defRPr/>
            </a:pPr>
            <a:endParaRPr>
              <a:latin typeface="Comic Sans MS"/>
              <a:cs typeface="Comic Sans MS"/>
            </a:endParaRPr>
          </a:p>
          <a:p>
            <a:pPr marL="683929" lvl="1" indent="-283879" algn="l">
              <a:buFont typeface="Arial"/>
              <a:buChar char="•"/>
              <a:defRPr/>
            </a:pPr>
            <a:r>
              <a:rPr>
                <a:latin typeface="Comic Sans MS"/>
                <a:ea typeface="Comic Sans MS"/>
                <a:cs typeface="Comic Sans MS"/>
              </a:rPr>
              <a:t>Анализ предметной области, сбор требований (ПК 2.1).</a:t>
            </a:r>
            <a:endParaRPr>
              <a:latin typeface="Comic Sans MS"/>
              <a:cs typeface="Comic Sans MS"/>
            </a:endParaRPr>
          </a:p>
          <a:p>
            <a:pPr marL="283879" indent="-283879" algn="l">
              <a:buFont typeface="Arial"/>
              <a:buChar char="•"/>
              <a:defRPr/>
            </a:pPr>
            <a:endParaRPr>
              <a:latin typeface="Comic Sans MS"/>
              <a:cs typeface="Comic Sans MS"/>
            </a:endParaRPr>
          </a:p>
          <a:p>
            <a:pPr marL="683929" lvl="1" indent="-283879" algn="l">
              <a:buFont typeface="Arial"/>
              <a:buChar char="•"/>
              <a:defRPr/>
            </a:pPr>
            <a:r>
              <a:rPr>
                <a:latin typeface="Comic Sans MS"/>
                <a:ea typeface="Comic Sans MS"/>
                <a:cs typeface="Comic Sans MS"/>
              </a:rPr>
              <a:t>Проектирование ПО (UML, ERD, ТЗ, модули) (ПК 2.2).</a:t>
            </a:r>
            <a:endParaRPr>
              <a:latin typeface="Comic Sans MS"/>
              <a:cs typeface="Comic Sans MS"/>
            </a:endParaRPr>
          </a:p>
          <a:p>
            <a:pPr marL="283879" indent="-283879" algn="l">
              <a:buFont typeface="Arial"/>
              <a:buChar char="•"/>
              <a:defRPr/>
            </a:pPr>
            <a:endParaRPr>
              <a:latin typeface="Comic Sans MS"/>
              <a:cs typeface="Comic Sans MS"/>
            </a:endParaRPr>
          </a:p>
          <a:p>
            <a:pPr marL="683929" lvl="1" indent="-283879" algn="l">
              <a:buFont typeface="Arial"/>
              <a:buChar char="•"/>
              <a:defRPr/>
            </a:pPr>
            <a:r>
              <a:rPr>
                <a:latin typeface="Comic Sans MS"/>
                <a:ea typeface="Comic Sans MS"/>
                <a:cs typeface="Comic Sans MS"/>
              </a:rPr>
              <a:t>Разработка модулей на C# / Avalonia / ASP.NET Core (ПК 2.3).</a:t>
            </a:r>
            <a:endParaRPr>
              <a:latin typeface="Comic Sans MS"/>
              <a:cs typeface="Comic Sans MS"/>
            </a:endParaRPr>
          </a:p>
          <a:p>
            <a:pPr marL="283879" indent="-283879" algn="l">
              <a:buFont typeface="Arial"/>
              <a:buChar char="•"/>
              <a:defRPr/>
            </a:pPr>
            <a:endParaRPr>
              <a:latin typeface="Comic Sans MS"/>
              <a:cs typeface="Comic Sans MS"/>
            </a:endParaRPr>
          </a:p>
          <a:p>
            <a:pPr marL="683929" lvl="1" indent="-283879" algn="l">
              <a:buFont typeface="Arial"/>
              <a:buChar char="•"/>
              <a:defRPr/>
            </a:pPr>
            <a:r>
              <a:rPr>
                <a:latin typeface="Comic Sans MS"/>
                <a:ea typeface="Comic Sans MS"/>
                <a:cs typeface="Comic Sans MS"/>
              </a:rPr>
              <a:t>Отладка и тестирование (ПК 2.4).</a:t>
            </a:r>
            <a:endParaRPr>
              <a:latin typeface="Comic Sans MS"/>
              <a:cs typeface="Comic Sans MS"/>
            </a:endParaRPr>
          </a:p>
          <a:p>
            <a:pPr marL="283879" indent="-283879" algn="l">
              <a:buFont typeface="Arial"/>
              <a:buChar char="•"/>
              <a:defRPr/>
            </a:pPr>
            <a:endParaRPr>
              <a:latin typeface="Comic Sans MS"/>
              <a:cs typeface="Comic Sans MS"/>
            </a:endParaRPr>
          </a:p>
          <a:p>
            <a:pPr marL="683929" lvl="1" indent="-283879" algn="l">
              <a:buFont typeface="Arial"/>
              <a:buChar char="•"/>
              <a:defRPr/>
            </a:pPr>
            <a:r>
              <a:rPr>
                <a:latin typeface="Comic Sans MS"/>
                <a:ea typeface="Comic Sans MS"/>
                <a:cs typeface="Comic Sans MS"/>
              </a:rPr>
              <a:t>Инспекция кода и документирование (ПК 2.5).</a:t>
            </a:r>
            <a:endParaRPr>
              <a:latin typeface="Comic Sans MS"/>
              <a:cs typeface="Comic Sans MS"/>
            </a:endParaRPr>
          </a:p>
        </p:txBody>
      </p:sp>
      <p:pic>
        <p:nvPicPr>
          <p:cNvPr id="160172925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3157" y="1505399"/>
            <a:ext cx="5639186" cy="38472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6472711" name="Text 0"/>
          <p:cNvSpPr/>
          <p:nvPr/>
        </p:nvSpPr>
        <p:spPr bwMode="auto">
          <a:xfrm>
            <a:off x="1271847" y="417715"/>
            <a:ext cx="10141526" cy="5818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Заключение и дальнейшее развитие</a:t>
            </a:r>
            <a:endParaRPr sz="2200">
              <a:latin typeface="Comic Sans MS"/>
              <a:cs typeface="Comic Sans MS"/>
            </a:endParaRPr>
          </a:p>
        </p:txBody>
      </p:sp>
      <p:sp>
        <p:nvSpPr>
          <p:cNvPr id="1378132556" name="Text 1"/>
          <p:cNvSpPr/>
          <p:nvPr/>
        </p:nvSpPr>
        <p:spPr bwMode="auto">
          <a:xfrm flipH="0" flipV="0">
            <a:off x="1271846" y="1662544"/>
            <a:ext cx="4156363" cy="30056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000"/>
              </a:lnSpc>
              <a:buNone/>
              <a:defRPr/>
            </a:pPr>
            <a:r>
              <a:rPr lang="en-US"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Что сделано: </a:t>
            </a:r>
            <a:endParaRPr sz="180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283879" indent="-283879" algn="l">
              <a:lnSpc>
                <a:spcPts val="1999"/>
              </a:lnSpc>
              <a:buFont typeface="Arial"/>
              <a:buChar char="•"/>
              <a:defRPr/>
            </a:pPr>
            <a:r>
              <a:rPr lang="ru-RU"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Р</a:t>
            </a:r>
            <a:r>
              <a:rPr lang="en-US"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абочий прототип видеохостинга с регистрацией, загрузкой, HLS-потоком, MPV, комментариями, лайками, плейлистами, модерацией, уведомлениями. Описаны все отчёты, портфолио, презентация, дневник. Проведены тестирование и отладка.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084257846" name="Text 2"/>
          <p:cNvSpPr/>
          <p:nvPr/>
        </p:nvSpPr>
        <p:spPr bwMode="auto">
          <a:xfrm flipH="0" flipV="0">
            <a:off x="6675120" y="1662544"/>
            <a:ext cx="4156363" cy="30056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000"/>
              </a:lnSpc>
              <a:buNone/>
              <a:defRPr/>
            </a:pPr>
            <a:r>
              <a:rPr lang="en-US"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Перспективы:</a:t>
            </a:r>
            <a:endParaRPr sz="180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283879" indent="-283879" algn="l">
              <a:lnSpc>
                <a:spcPts val="1999"/>
              </a:lnSpc>
              <a:buFont typeface="Arial"/>
              <a:buChar char="•"/>
              <a:defRPr/>
            </a:pPr>
            <a:r>
              <a:rPr lang="ru-RU"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Р</a:t>
            </a:r>
            <a:r>
              <a:rPr lang="en-US"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еализовать автоперевод субтитров (VOT/Whisper); добавить рекомендательную систему; развернуть в облаке (Docker, Railway); выложить сборки для Windows и macOS.</a:t>
            </a:r>
            <a:endParaRPr sz="1800"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44501535" name="Image 1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31272" y="415636"/>
            <a:ext cx="3308465" cy="6026727"/>
          </a:xfrm>
          <a:prstGeom prst="rect">
            <a:avLst/>
          </a:prstGeom>
        </p:spPr>
      </p:pic>
      <p:sp>
        <p:nvSpPr>
          <p:cNvPr id="812563276" name="Text 1"/>
          <p:cNvSpPr/>
          <p:nvPr/>
        </p:nvSpPr>
        <p:spPr bwMode="auto">
          <a:xfrm>
            <a:off x="4804756" y="1082733"/>
            <a:ext cx="5985163" cy="5818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Спасибо за внимание</a:t>
            </a:r>
            <a:endParaRPr sz="2600">
              <a:latin typeface="Comic Sans MS"/>
              <a:cs typeface="Comic Sans MS"/>
            </a:endParaRPr>
          </a:p>
        </p:txBody>
      </p:sp>
      <p:sp>
        <p:nvSpPr>
          <p:cNvPr id="140152989" name="Text 2"/>
          <p:cNvSpPr/>
          <p:nvPr/>
        </p:nvSpPr>
        <p:spPr bwMode="auto">
          <a:xfrm flipH="0" flipV="0">
            <a:off x="4804755" y="2078181"/>
            <a:ext cx="5818908" cy="6944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Ссылка на репозиторий GitHub: </a:t>
            </a:r>
            <a:r>
              <a:rPr lang="en-US" sz="15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https://github.com/DarkUser1onion/VideoHosting</a:t>
            </a:r>
            <a:endParaRPr sz="1500">
              <a:latin typeface="Comic Sans MS"/>
              <a:cs typeface="Comic Sans MS"/>
            </a:endParaRPr>
          </a:p>
        </p:txBody>
      </p:sp>
      <p:sp>
        <p:nvSpPr>
          <p:cNvPr id="1333620205" name="Text 3"/>
          <p:cNvSpPr/>
          <p:nvPr/>
        </p:nvSpPr>
        <p:spPr bwMode="auto">
          <a:xfrm>
            <a:off x="4804755" y="2971800"/>
            <a:ext cx="581890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000"/>
              </a:lnSpc>
              <a:buNone/>
              <a:defRPr/>
            </a:pPr>
            <a:r>
              <a:rPr lang="en-US" sz="150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Ссылка на папку с документацией: </a:t>
            </a:r>
            <a:r>
              <a:rPr lang="en-US" sz="15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https://drive.google.com/drive/folders/1pkELJtKY0MGBczLmPc2yzr7eo9F_zWe-</a:t>
            </a:r>
            <a:endParaRPr sz="1500">
              <a:latin typeface="Comic Sans MS"/>
              <a:cs typeface="Comic Sans MS"/>
            </a:endParaRPr>
          </a:p>
        </p:txBody>
      </p:sp>
      <p:sp>
        <p:nvSpPr>
          <p:cNvPr id="349884121" name="Text 4"/>
          <p:cNvSpPr/>
          <p:nvPr/>
        </p:nvSpPr>
        <p:spPr bwMode="auto">
          <a:xfrm>
            <a:off x="4887882" y="4844117"/>
            <a:ext cx="581890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000"/>
              </a:lnSpc>
              <a:buNone/>
              <a:defRPr/>
            </a:pPr>
            <a:r>
              <a:rPr lang="en-US" sz="2200">
                <a:solidFill>
                  <a:srgbClr val="FF0000"/>
                </a:solidFill>
                <a:latin typeface="Comic Sans MS"/>
                <a:ea typeface="Comic Sans MS"/>
                <a:cs typeface="Comic Sans MS"/>
              </a:rPr>
              <a:t>Ответы на вопросы.</a:t>
            </a:r>
            <a:endParaRPr sz="2200">
              <a:solidFill>
                <a:srgbClr val="FF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/>
  <cp:revision>2</cp:revision>
  <dcterms:created xsi:type="dcterms:W3CDTF">2026-05-05T06:48:06Z</dcterms:created>
  <dcterms:modified xsi:type="dcterms:W3CDTF">2026-05-05T07:05:07Z</dcterms:modified>
</cp:coreProperties>
</file>